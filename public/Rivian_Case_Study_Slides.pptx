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Sustaining Growth and Future Innovation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Rivian Case Study</a:t>
            </a:r>
          </a:p>
          <a:p>
            <a:r>
              <a:t>Prepared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Simple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Investment: $5M</a:t>
            </a:r>
          </a:p>
          <a:p>
            <a:r>
              <a:t>- Annual Returns:</a:t>
            </a:r>
          </a:p>
          <a:p>
            <a:r>
              <a:t>  Year 1: $0M, Year 2: $1.20M, Year 3: $2.70M, Year 4: $4.50M, Year 5: $7.50M</a:t>
            </a:r>
          </a:p>
          <a:p>
            <a:r>
              <a:t>- Cumulative Profits:</a:t>
            </a:r>
          </a:p>
          <a:p>
            <a:r>
              <a:t>  Year 3: $3.90M, Year 4: $8.40M</a:t>
            </a:r>
          </a:p>
          <a:p>
            <a:r>
              <a:t>- Simple Payback Period: 3.5 years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Discounted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Discount Rate: 12%</a:t>
            </a:r>
          </a:p>
          <a:p>
            <a:r>
              <a:t>- Discounted Profits:</a:t>
            </a:r>
          </a:p>
          <a:p>
            <a:r>
              <a:t>  Year 1: $0.00M, Year 2: $1.07M, Year 3: $2.16M</a:t>
            </a:r>
          </a:p>
          <a:p>
            <a:r>
              <a:t>  Year 4: $3.20M, Year 5: $4.80M</a:t>
            </a:r>
          </a:p>
          <a:p>
            <a:r>
              <a:t>- Cumulative Discounted Profits:</a:t>
            </a:r>
          </a:p>
          <a:p>
            <a:r>
              <a:t>  Year 3: $3.23M, Year 4: $6.43M</a:t>
            </a:r>
          </a:p>
          <a:p>
            <a:r>
              <a:t>- Discounted Payback Period: ~3.5 years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Net Present Value (NPV)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Total Discounted Profits (Years 1-5): $11.23M</a:t>
            </a:r>
          </a:p>
          <a:p>
            <a:r>
              <a:t>- NPV Calculation: $11.23M - $5M = $6.23M</a:t>
            </a:r>
          </a:p>
          <a:p>
            <a:r>
              <a:t>- Decision: Positive NPV indicates Rivian should proceed with the investment.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Based on NPV, Rivian should proceed with the product.</a:t>
            </a:r>
          </a:p>
          <a:p>
            <a:r>
              <a:t>- Strategic Fit:</a:t>
            </a:r>
          </a:p>
          <a:p>
            <a:r>
              <a:t>  - Leadership in EV market.</a:t>
            </a:r>
          </a:p>
          <a:p>
            <a:r>
              <a:t>  - Supports 20% YoY revenue growth for 10 years.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Comparison: Historical vs Current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Early Days (2010-2015):</a:t>
            </a:r>
          </a:p>
          <a:p>
            <a:r>
              <a:t>  - Focus: Prototyping R1T/R1S vehicles.</a:t>
            </a:r>
          </a:p>
          <a:p>
            <a:r>
              <a:t>  - Partnerships with Amazon, Ford.</a:t>
            </a:r>
          </a:p>
          <a:p>
            <a:r>
              <a:t>  - Skateboard EV platform development.</a:t>
            </a:r>
          </a:p>
          <a:p/>
          <a:p>
            <a:r>
              <a:t>- Current Strategies (2016-Present):</a:t>
            </a:r>
          </a:p>
          <a:p>
            <a:r>
              <a:t>  - Scaling production and delivery.</a:t>
            </a:r>
          </a:p>
          <a:p>
            <a:r>
              <a:t>  - Building Rivian Adventure Network.</a:t>
            </a:r>
          </a:p>
          <a:p>
            <a:r>
              <a:t>  - Expanding fleet management solutions.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Infographic Placeholder (use Canva or other tools).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Ambition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Core Innovation: Enhancements to R1T and R1S.</a:t>
            </a:r>
          </a:p>
          <a:p>
            <a:r>
              <a:t>- Adjacent Innovation: Fleet management and charging networks.</a:t>
            </a:r>
          </a:p>
          <a:p>
            <a:r>
              <a:t>- Transformational Innovation: Adventure services and ecosystem expansion.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Comparable Company: Tesla.</a:t>
            </a:r>
          </a:p>
          <a:p>
            <a:r>
              <a:t>- Lessons for Rivian:</a:t>
            </a:r>
          </a:p>
          <a:p>
            <a:r>
              <a:t>  - Prioritize scalability in production.</a:t>
            </a:r>
          </a:p>
          <a:p>
            <a:r>
              <a:t>  - Invest in customer experience (e.g., seamless charging infrastructure).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